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6B53"/>
              </a:solidFill>
              <a:ln w="25400" cap="flat">
                <a:solidFill>
                  <a:srgbClr val="F9F9F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1F9-4B58-A693-9BE4AA13EB3A}"/>
              </c:ext>
            </c:extLst>
          </c:dPt>
          <c:dPt>
            <c:idx val="1"/>
            <c:bubble3D val="0"/>
            <c:spPr>
              <a:solidFill>
                <a:srgbClr val="D4A373"/>
              </a:solidFill>
              <a:ln w="25400" cap="flat">
                <a:solidFill>
                  <a:srgbClr val="F9F9F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1F9-4B58-A693-9BE4AA13EB3A}"/>
              </c:ext>
            </c:extLst>
          </c:dPt>
          <c:dPt>
            <c:idx val="2"/>
            <c:bubble3D val="0"/>
            <c:spPr>
              <a:solidFill>
                <a:srgbClr val="1A242F"/>
              </a:solidFill>
              <a:ln w="25400" cap="flat">
                <a:solidFill>
                  <a:srgbClr val="F9F9F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1F9-4B58-A693-9BE4AA13EB3A}"/>
              </c:ext>
            </c:extLst>
          </c:dPt>
          <c:dPt>
            <c:idx val="3"/>
            <c:bubble3D val="0"/>
            <c:spPr>
              <a:solidFill>
                <a:srgbClr val="7C9A86"/>
              </a:solidFill>
              <a:ln w="25400" cap="flat">
                <a:solidFill>
                  <a:srgbClr val="F9F9F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D1F9-4B58-A693-9BE4AA13EB3A}"/>
              </c:ext>
            </c:extLst>
          </c:dPt>
          <c:dPt>
            <c:idx val="4"/>
            <c:bubble3D val="0"/>
            <c:spPr>
              <a:solidFill>
                <a:srgbClr val="B9834F"/>
              </a:solidFill>
              <a:ln w="25400" cap="flat">
                <a:solidFill>
                  <a:srgbClr val="F9F9F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D1F9-4B58-A693-9BE4AA13EB3A}"/>
              </c:ext>
            </c:extLst>
          </c:dPt>
          <c:dPt>
            <c:idx val="5"/>
            <c:bubble3D val="0"/>
            <c:spPr>
              <a:solidFill>
                <a:srgbClr val="5B6672"/>
              </a:solidFill>
              <a:ln w="25400" cap="flat">
                <a:solidFill>
                  <a:srgbClr val="F9F9F6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D1F9-4B58-A693-9BE4AA13EB3A}"/>
              </c:ext>
            </c:extLst>
          </c:dPt>
          <c:cat>
            <c:strRef>
              <c:f>Sheet1!$A$2:$A$7</c:f>
              <c:strCache>
                <c:ptCount val="6"/>
                <c:pt idx="0">
                  <c:v>Formulation + R&amp;D</c:v>
                </c:pt>
                <c:pt idx="1">
                  <c:v>Clinical + Consumer Validation</c:v>
                </c:pt>
                <c:pt idx="2">
                  <c:v>Regulatory + Quality</c:v>
                </c:pt>
                <c:pt idx="3">
                  <c:v>Initial Manufacturing</c:v>
                </c:pt>
                <c:pt idx="4">
                  <c:v>Brand + Commerce</c:v>
                </c:pt>
                <c:pt idx="5">
                  <c:v>Team + Operations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1F9-4B58-A693-9BE4AA13E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28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926080"/>
            <a:ext cx="7772400" cy="7772400"/>
          </a:xfrm>
          <a:prstGeom prst="ellipse">
            <a:avLst/>
          </a:prstGeom>
          <a:solidFill>
            <a:srgbClr val="4A6B53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206240"/>
            <a:ext cx="5669280" cy="5669280"/>
          </a:xfrm>
          <a:prstGeom prst="ellipse">
            <a:avLst/>
          </a:prstGeom>
          <a:solidFill>
            <a:srgbClr val="D4A37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899855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18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FINANCING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Nutrition for Gut + Metabolic Health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C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products. Two daily habits. One metabolic-health platform.</a:t>
            </a:r>
            <a:endParaRPr lang="en-US" sz="1450" dirty="0"/>
          </a:p>
        </p:txBody>
      </p:sp>
      <p:pic>
        <p:nvPicPr>
          <p:cNvPr id="9" name="Image 0" descr="/home/claude/work/assets/cover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535" y="1353312"/>
            <a:ext cx="4160520" cy="4310080"/>
          </a:xfrm>
          <a:prstGeom prst="rect">
            <a:avLst/>
          </a:prstGeom>
          <a:effectLst>
            <a:outerShdw blurRad="228600" dist="1016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48640" y="4187952"/>
            <a:ext cx="2880360" cy="841248"/>
          </a:xfrm>
          <a:prstGeom prst="roundRect">
            <a:avLst>
              <a:gd name="adj" fmla="val 9783"/>
            </a:avLst>
          </a:prstGeom>
          <a:solidFill>
            <a:srgbClr val="232F3B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4416552"/>
            <a:ext cx="310896" cy="310896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2" name="Text 9"/>
          <p:cNvSpPr/>
          <p:nvPr/>
        </p:nvSpPr>
        <p:spPr>
          <a:xfrm>
            <a:off x="1152144" y="42976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Daily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2144" y="46268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multi-fiber nutrition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30168" y="4187952"/>
            <a:ext cx="2880360" cy="841248"/>
          </a:xfrm>
          <a:prstGeom prst="roundRect">
            <a:avLst>
              <a:gd name="adj" fmla="val 9783"/>
            </a:avLst>
          </a:prstGeom>
          <a:solidFill>
            <a:srgbClr val="232F3B"/>
          </a:solidFill>
          <a:ln/>
        </p:spPr>
      </p:sp>
      <p:sp>
        <p:nvSpPr>
          <p:cNvPr id="15" name="Shape 12"/>
          <p:cNvSpPr/>
          <p:nvPr/>
        </p:nvSpPr>
        <p:spPr>
          <a:xfrm>
            <a:off x="3813048" y="4416552"/>
            <a:ext cx="310896" cy="310896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16" name="Text 13"/>
          <p:cNvSpPr/>
          <p:nvPr/>
        </p:nvSpPr>
        <p:spPr>
          <a:xfrm>
            <a:off x="4233672" y="42976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Berberine Balance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33672" y="46268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Botanical metabolic support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61996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FINANCING   ·   R&amp;D + CONSUMER VALIDATION + CLINICAL PILOT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team profiles to be added.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54298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72869" y="2651760"/>
            <a:ext cx="1005840" cy="1005840"/>
          </a:xfrm>
          <a:prstGeom prst="ellipse">
            <a:avLst/>
          </a:prstGeom>
          <a:solidFill>
            <a:srgbClr val="E7EDE8"/>
          </a:solidFill>
          <a:ln w="15875">
            <a:solidFill>
              <a:srgbClr val="7C9A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8629" y="2862072"/>
            <a:ext cx="274320" cy="274320"/>
          </a:xfrm>
          <a:prstGeom prst="ellipse">
            <a:avLst/>
          </a:prstGeom>
          <a:solidFill>
            <a:srgbClr val="7C9A86"/>
          </a:solidFill>
          <a:ln/>
        </p:spPr>
      </p:sp>
      <p:sp>
        <p:nvSpPr>
          <p:cNvPr id="8" name="Shape 6"/>
          <p:cNvSpPr/>
          <p:nvPr/>
        </p:nvSpPr>
        <p:spPr>
          <a:xfrm>
            <a:off x="2019757" y="3200400"/>
            <a:ext cx="512064" cy="310896"/>
          </a:xfrm>
          <a:prstGeom prst="ellipse">
            <a:avLst/>
          </a:prstGeom>
          <a:solidFill>
            <a:srgbClr val="7C9A86"/>
          </a:solidFill>
          <a:ln/>
        </p:spPr>
      </p:sp>
      <p:sp>
        <p:nvSpPr>
          <p:cNvPr id="9" name="Shape 7"/>
          <p:cNvSpPr/>
          <p:nvPr/>
        </p:nvSpPr>
        <p:spPr>
          <a:xfrm>
            <a:off x="1041349" y="376732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E7EDE8"/>
          </a:solidFill>
          <a:ln/>
        </p:spPr>
      </p:sp>
      <p:sp>
        <p:nvSpPr>
          <p:cNvPr id="10" name="Text 8"/>
          <p:cNvSpPr/>
          <p:nvPr/>
        </p:nvSpPr>
        <p:spPr>
          <a:xfrm>
            <a:off x="1041349" y="3767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Regulatory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4279392"/>
            <a:ext cx="286908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formulation science, the FSSAI pathway and clinical validation design.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8698" y="2286000"/>
            <a:ext cx="3454298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92928" y="2651760"/>
            <a:ext cx="1005840" cy="1005840"/>
          </a:xfrm>
          <a:prstGeom prst="ellipse">
            <a:avLst/>
          </a:prstGeom>
          <a:solidFill>
            <a:srgbClr val="E7EDE8"/>
          </a:solidFill>
          <a:ln w="15875">
            <a:solidFill>
              <a:srgbClr val="7C9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58688" y="2862072"/>
            <a:ext cx="274320" cy="274320"/>
          </a:xfrm>
          <a:prstGeom prst="ellipse">
            <a:avLst/>
          </a:prstGeom>
          <a:solidFill>
            <a:srgbClr val="7C9A86"/>
          </a:solidFill>
          <a:ln/>
        </p:spPr>
      </p:sp>
      <p:sp>
        <p:nvSpPr>
          <p:cNvPr id="15" name="Shape 13"/>
          <p:cNvSpPr/>
          <p:nvPr/>
        </p:nvSpPr>
        <p:spPr>
          <a:xfrm>
            <a:off x="5839816" y="3200400"/>
            <a:ext cx="512064" cy="310896"/>
          </a:xfrm>
          <a:prstGeom prst="ellipse">
            <a:avLst/>
          </a:prstGeom>
          <a:solidFill>
            <a:srgbClr val="7C9A86"/>
          </a:solidFill>
          <a:ln/>
        </p:spPr>
      </p:sp>
      <p:sp>
        <p:nvSpPr>
          <p:cNvPr id="16" name="Shape 14"/>
          <p:cNvSpPr/>
          <p:nvPr/>
        </p:nvSpPr>
        <p:spPr>
          <a:xfrm>
            <a:off x="4861408" y="376732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E7EDE8"/>
          </a:solidFill>
          <a:ln/>
        </p:spPr>
      </p:sp>
      <p:sp>
        <p:nvSpPr>
          <p:cNvPr id="17" name="Text 15"/>
          <p:cNvSpPr/>
          <p:nvPr/>
        </p:nvSpPr>
        <p:spPr>
          <a:xfrm>
            <a:off x="4861408" y="3767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Growth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1306" y="4279392"/>
            <a:ext cx="286908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D2C brand, consumer experience and channel scaling.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8757" y="2286000"/>
            <a:ext cx="3454298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2986" y="2651760"/>
            <a:ext cx="1005840" cy="1005840"/>
          </a:xfrm>
          <a:prstGeom prst="ellipse">
            <a:avLst/>
          </a:prstGeom>
          <a:solidFill>
            <a:srgbClr val="E7EDE8"/>
          </a:solidFill>
          <a:ln w="15875">
            <a:solidFill>
              <a:srgbClr val="7C9A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78746" y="2862072"/>
            <a:ext cx="274320" cy="274320"/>
          </a:xfrm>
          <a:prstGeom prst="ellipse">
            <a:avLst/>
          </a:prstGeom>
          <a:solidFill>
            <a:srgbClr val="7C9A86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9874" y="3200400"/>
            <a:ext cx="512064" cy="310896"/>
          </a:xfrm>
          <a:prstGeom prst="ellipse">
            <a:avLst/>
          </a:prstGeom>
          <a:solidFill>
            <a:srgbClr val="7C9A86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1466" y="376732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E7EDE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1466" y="3767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Supply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81365" y="4279392"/>
            <a:ext cx="286908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manufacturing partners, quality systems and fulfillment.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 is actively building its founding and advisory bench across these functions.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943600" cy="5943600"/>
          </a:xfrm>
          <a:prstGeom prst="ellipse">
            <a:avLst/>
          </a:prstGeom>
          <a:solidFill>
            <a:srgbClr val="4A6B5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-3291840"/>
            <a:ext cx="5669280" cy="5669280"/>
          </a:xfrm>
          <a:prstGeom prst="ellipse">
            <a:avLst/>
          </a:prstGeom>
          <a:solidFill>
            <a:srgbClr val="D4A373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754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Diet Has Created Two Connected Gaps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7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connected gaps. One category opportunity.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64328" cy="3794760"/>
          </a:xfrm>
          <a:prstGeom prst="roundRect">
            <a:avLst>
              <a:gd name="adj" fmla="val 2169"/>
            </a:avLst>
          </a:prstGeom>
          <a:solidFill>
            <a:srgbClr val="232F3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651760"/>
            <a:ext cx="438912" cy="438912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Fiber Gap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47242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carbs, convenience foods and low plant diversity leave modern diets quietly under-fibered.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kern="0" spc="1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IRREGULARITY  ·  POOR SATIETY  ·  SNACKING  ·  DISCOMFORT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5458968"/>
            <a:ext cx="4724248" cy="0"/>
          </a:xfrm>
          <a:prstGeom prst="line">
            <a:avLst/>
          </a:prstGeom>
          <a:noFill/>
          <a:ln w="12700">
            <a:solidFill>
              <a:srgbClr val="3A46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57784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fiber products still target occasional constipation — not everyday nutrition.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8728" y="2331720"/>
            <a:ext cx="5364328" cy="3794760"/>
          </a:xfrm>
          <a:prstGeom prst="roundRect">
            <a:avLst>
              <a:gd name="adj" fmla="val 2169"/>
            </a:avLst>
          </a:prstGeom>
          <a:solidFill>
            <a:srgbClr val="232F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598768" y="2651760"/>
            <a:ext cx="438912" cy="438912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7" name="Text 15"/>
          <p:cNvSpPr/>
          <p:nvPr/>
        </p:nvSpPr>
        <p:spPr>
          <a:xfrm>
            <a:off x="6598768" y="2651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98768" y="324612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Metabolic Gap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98768" y="3794760"/>
            <a:ext cx="47242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are newly fluent in glucose, cravings, weight and cholesterol — driven largely by the GLP-1 wave.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98768" y="493776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kern="0" spc="1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POST-MEAL GLUCOSE  ·  CRAVINGS  ·  APPETITE  ·  WEIGHT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98768" y="5458968"/>
            <a:ext cx="4724248" cy="0"/>
          </a:xfrm>
          <a:prstGeom prst="line">
            <a:avLst/>
          </a:prstGeom>
          <a:noFill/>
          <a:ln w="12700">
            <a:solidFill>
              <a:srgbClr val="3A46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8768" y="557784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2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millions aren't seeking — or don't qualify for — prescription weight-loss medication.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Trends Are Converging on a Large, Growing Market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215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57400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2496312"/>
            <a:ext cx="21998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Health Goes Mainstream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2916936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Digestive wellness is now a major global consumer category.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379394" y="1874520"/>
            <a:ext cx="260215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0562" y="2057400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12" name="Text 10"/>
          <p:cNvSpPr/>
          <p:nvPr/>
        </p:nvSpPr>
        <p:spPr>
          <a:xfrm>
            <a:off x="3580562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80562" y="2496312"/>
            <a:ext cx="21998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Is Being Rediscovered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0562" y="2916936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Prebiotics &amp; soluble fiber join the probiotic conversation.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210148" y="1874520"/>
            <a:ext cx="260215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1316" y="2057400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17" name="Text 15"/>
          <p:cNvSpPr/>
          <p:nvPr/>
        </p:nvSpPr>
        <p:spPr>
          <a:xfrm>
            <a:off x="6411316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11316" y="2496312"/>
            <a:ext cx="21998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Changed the Vocabulary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11316" y="2916936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now think in satiety, glucose and insulin.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040901" y="1874520"/>
            <a:ext cx="2602154" cy="1417320"/>
          </a:xfrm>
          <a:prstGeom prst="roundRect">
            <a:avLst>
              <a:gd name="adj" fmla="val 5806"/>
            </a:avLst>
          </a:prstGeom>
          <a:solidFill>
            <a:srgbClr val="F3E7D8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2069" y="2057400"/>
            <a:ext cx="329184" cy="329184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9242069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42069" y="2496312"/>
            <a:ext cx="21998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Buyers Are Circling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42069" y="2916936"/>
            <a:ext cx="2199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P&amp;G's ~$3.8B Thorne deal (Aug 2026) signals real M&amp;A appetite for science-led wellness.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4864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2602154" cy="1874520"/>
          </a:xfrm>
          <a:prstGeom prst="roundRect">
            <a:avLst>
              <a:gd name="adj" fmla="val 4390"/>
            </a:avLst>
          </a:prstGeom>
          <a:solidFill>
            <a:srgbClr val="E7EDE8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3232" y="4142232"/>
            <a:ext cx="22729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6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$25.6B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13232" y="4782312"/>
            <a:ext cx="2272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kern="0" spc="5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SUPPLEMENTS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713232" y="5257800"/>
            <a:ext cx="2272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2033, from $15.5B in 2025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379394" y="3886200"/>
            <a:ext cx="2602154" cy="1874520"/>
          </a:xfrm>
          <a:prstGeom prst="roundRect">
            <a:avLst>
              <a:gd name="adj" fmla="val 4390"/>
            </a:avLst>
          </a:prstGeom>
          <a:solidFill>
            <a:srgbClr val="E7EDE8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43986" y="4142232"/>
            <a:ext cx="22729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6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$36.2B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3543986" y="4782312"/>
            <a:ext cx="2272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kern="0" spc="5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DIGESTIVE HEALTH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3543986" y="5257800"/>
            <a:ext cx="2272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2033, ~11.3% CAGR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210148" y="3886200"/>
            <a:ext cx="2602154" cy="1874520"/>
          </a:xfrm>
          <a:prstGeom prst="roundRect">
            <a:avLst>
              <a:gd name="adj" fmla="val 4390"/>
            </a:avLst>
          </a:prstGeom>
          <a:solidFill>
            <a:srgbClr val="E7EDE8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74740" y="4142232"/>
            <a:ext cx="22729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6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$71.6B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6374740" y="4782312"/>
            <a:ext cx="2272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kern="0" spc="5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WEIGHT-LOSS SUPPLEMENTS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6374740" y="5257800"/>
            <a:ext cx="2272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2030, from $33.1B in 2024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040901" y="3886200"/>
            <a:ext cx="2602154" cy="1874520"/>
          </a:xfrm>
          <a:prstGeom prst="roundRect">
            <a:avLst>
              <a:gd name="adj" fmla="val 4390"/>
            </a:avLst>
          </a:prstGeom>
          <a:solidFill>
            <a:srgbClr val="E7EDE8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05493" y="4142232"/>
            <a:ext cx="227297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A6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$55–57B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9205493" y="4782312"/>
            <a:ext cx="2272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b="1" kern="0" spc="5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NUTRACEUTICALS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9205493" y="5257800"/>
            <a:ext cx="2272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2030, from $29–30B in 2024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48640" y="6053328"/>
            <a:ext cx="11094415" cy="0"/>
          </a:xfrm>
          <a:prstGeom prst="line">
            <a:avLst/>
          </a:prstGeom>
          <a:noFill/>
          <a:ln w="9525">
            <a:solidFill>
              <a:srgbClr val="E4E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10819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b="1" i="1" kern="0" spc="8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83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category indicators, not claimed addressable revenue — built bottom-up through customer acquisition, repeat purchase and geographic expansion.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Products. One Everyday Metabolic-Health Platform.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between supplements people forget to take and prescription drugs for diagnosed conditions — evidence-led nutrition simple enough to become a habit.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66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kern="0" spc="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 PEOPLE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kern="0" spc="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TO TAKE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311335" y="2066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b="1" kern="0" spc="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DRUGS FOR</a:t>
            </a:r>
            <a:endParaRPr lang="en-US" sz="8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800" b="1" kern="0" spc="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CONDITIONS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63240" y="2212848"/>
            <a:ext cx="6065215" cy="54864"/>
          </a:xfrm>
          <a:prstGeom prst="roundRect">
            <a:avLst>
              <a:gd name="adj" fmla="val 50000"/>
            </a:avLst>
          </a:prstGeom>
          <a:solidFill>
            <a:srgbClr val="E7EDE8"/>
          </a:solidFill>
          <a:ln/>
        </p:spPr>
      </p:sp>
      <p:sp>
        <p:nvSpPr>
          <p:cNvPr id="8" name="Text 6"/>
          <p:cNvSpPr/>
          <p:nvPr/>
        </p:nvSpPr>
        <p:spPr>
          <a:xfrm>
            <a:off x="3817236" y="188366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Daily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1616" y="2171700"/>
            <a:ext cx="137160" cy="137160"/>
          </a:xfrm>
          <a:prstGeom prst="ellipse">
            <a:avLst/>
          </a:prstGeom>
          <a:solidFill>
            <a:srgbClr val="D4A373"/>
          </a:solidFill>
          <a:ln w="25400">
            <a:solidFill>
              <a:srgbClr val="F9F9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9409" y="188366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Berberine Balance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33789" y="2171700"/>
            <a:ext cx="137160" cy="137160"/>
          </a:xfrm>
          <a:prstGeom prst="ellipse">
            <a:avLst/>
          </a:prstGeom>
          <a:solidFill>
            <a:srgbClr val="4A6B53"/>
          </a:solidFill>
          <a:ln w="25400">
            <a:solidFill>
              <a:srgbClr val="F9F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78608"/>
            <a:ext cx="5364328" cy="3163824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pic>
        <p:nvPicPr>
          <p:cNvPr id="13" name="Image 0" descr="/home/claude/work/assets/card_trifi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864" y="2724912"/>
            <a:ext cx="1828800" cy="2871216"/>
          </a:xfrm>
          <a:prstGeom prst="rect">
            <a:avLst/>
          </a:prstGeom>
          <a:effectLst>
            <a:outerShdw blurRad="101600" dist="38100" dir="5400000" algn="bl" rotWithShape="0">
              <a:srgbClr val="1A242F">
                <a:alpha val="18000"/>
              </a:srgbClr>
            </a:outerShdw>
          </a:effectLst>
        </p:spPr>
      </p:pic>
      <p:sp>
        <p:nvSpPr>
          <p:cNvPr id="14" name="Shape 11"/>
          <p:cNvSpPr/>
          <p:nvPr/>
        </p:nvSpPr>
        <p:spPr>
          <a:xfrm>
            <a:off x="868680" y="2852928"/>
            <a:ext cx="365760" cy="36576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346704"/>
            <a:ext cx="2868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DAILY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68680" y="3694176"/>
            <a:ext cx="286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kern="0" spc="7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MULTI-FIBER DRINK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4114800"/>
            <a:ext cx="28680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97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+ insoluble + prebiotic fiber in one scoop</a:t>
            </a:r>
            <a:endParaRPr lang="en-US" sz="97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97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close the fiber gap — not just relieve constipation</a:t>
            </a:r>
            <a:endParaRPr lang="en-US" sz="97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97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Lemon-Jeera flavor; sachets &amp; jar, India-first formats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868680" y="5285232"/>
            <a:ext cx="2868016" cy="310896"/>
          </a:xfrm>
          <a:prstGeom prst="roundRect">
            <a:avLst>
              <a:gd name="adj" fmla="val 50000"/>
            </a:avLst>
          </a:prstGeom>
          <a:solidFill>
            <a:srgbClr val="F3E7D8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85232"/>
            <a:ext cx="2868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kern="0" spc="50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Broad-entry  ·  high frequency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6278728" y="2578608"/>
            <a:ext cx="5364328" cy="3163824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pic>
        <p:nvPicPr>
          <p:cNvPr id="22" name="Image 1" descr="/home/claude/work/assets/card_berber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951" y="2724912"/>
            <a:ext cx="1828800" cy="2871216"/>
          </a:xfrm>
          <a:prstGeom prst="rect">
            <a:avLst/>
          </a:prstGeom>
          <a:effectLst>
            <a:outerShdw blurRad="101600" dist="38100" dir="5400000" algn="bl" rotWithShape="0">
              <a:srgbClr val="1A242F">
                <a:alpha val="18000"/>
              </a:srgbClr>
            </a:outerShdw>
          </a:effectLst>
        </p:spPr>
      </p:pic>
      <p:sp>
        <p:nvSpPr>
          <p:cNvPr id="23" name="Shape 19"/>
          <p:cNvSpPr/>
          <p:nvPr/>
        </p:nvSpPr>
        <p:spPr>
          <a:xfrm>
            <a:off x="6598768" y="2852928"/>
            <a:ext cx="365760" cy="365760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24" name="Text 20"/>
          <p:cNvSpPr/>
          <p:nvPr/>
        </p:nvSpPr>
        <p:spPr>
          <a:xfrm>
            <a:off x="659876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98768" y="3346704"/>
            <a:ext cx="2868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BERBERINE BALANCE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598768" y="3694176"/>
            <a:ext cx="28680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kern="0" spc="7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BOTANICAL SUPPLEMENT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598768" y="4114800"/>
            <a:ext cx="28680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97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Berberine HCl standardized for purity — 500 mg target</a:t>
            </a:r>
            <a:endParaRPr lang="en-US" sz="97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97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healthy glucose metabolism &amp; metabolic wellness</a:t>
            </a:r>
            <a:endParaRPr lang="en-US" sz="97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97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Responsibly positioned — never marketed as “Natural Ozempic”</a:t>
            </a:r>
            <a:endParaRPr lang="en-US" sz="970" dirty="0"/>
          </a:p>
        </p:txBody>
      </p:sp>
      <p:sp>
        <p:nvSpPr>
          <p:cNvPr id="28" name="Shape 24"/>
          <p:cNvSpPr/>
          <p:nvPr/>
        </p:nvSpPr>
        <p:spPr>
          <a:xfrm>
            <a:off x="6598768" y="5285232"/>
            <a:ext cx="2868016" cy="310896"/>
          </a:xfrm>
          <a:prstGeom prst="roundRect">
            <a:avLst>
              <a:gd name="adj" fmla="val 50000"/>
            </a:avLst>
          </a:prstGeom>
          <a:solidFill>
            <a:srgbClr val="E7EDE8"/>
          </a:solidFill>
          <a:ln/>
        </p:spPr>
      </p:sp>
      <p:sp>
        <p:nvSpPr>
          <p:cNvPr id="29" name="Text 25"/>
          <p:cNvSpPr/>
          <p:nvPr/>
        </p:nvSpPr>
        <p:spPr>
          <a:xfrm>
            <a:off x="6598768" y="5285232"/>
            <a:ext cx="2868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 ·  higher perceived value</a:t>
            </a:r>
            <a:endParaRPr lang="en-US" sz="870" dirty="0"/>
          </a:p>
        </p:txBody>
      </p:sp>
      <p:sp>
        <p:nvSpPr>
          <p:cNvPr id="30" name="Text 26"/>
          <p:cNvSpPr/>
          <p:nvPr/>
        </p:nvSpPr>
        <p:spPr>
          <a:xfrm>
            <a:off x="548640" y="58704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builds the customer relationship. Berberine deepens it.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Can Be Copied. Our System Is Harder to Copy.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2745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28800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07008" y="1810512"/>
            <a:ext cx="2658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249424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texture and tolerability engineered in — not bolted 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2122" y="1627632"/>
            <a:ext cx="352745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1578" y="1828800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11" name="Text 9"/>
          <p:cNvSpPr/>
          <p:nvPr/>
        </p:nvSpPr>
        <p:spPr>
          <a:xfrm>
            <a:off x="4551578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90490" y="1810512"/>
            <a:ext cx="2658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1578" y="2249424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Product-specific consumer &amp; clinical data, not just ingredient literature.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5605" y="1627632"/>
            <a:ext cx="352745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5061" y="1828800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16" name="Text 14"/>
          <p:cNvSpPr/>
          <p:nvPr/>
        </p:nvSpPr>
        <p:spPr>
          <a:xfrm>
            <a:off x="833506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73973" y="1810512"/>
            <a:ext cx="2658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35061" y="2249424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Batch-level testing with QR-linked quality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352745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328416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328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07008" y="3310128"/>
            <a:ext cx="2658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Infrastructure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8096" y="374904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Market-specific claims architecture for India, UAE, US &amp; EU.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32122" y="3127248"/>
            <a:ext cx="352745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1578" y="3328416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26" name="Text 24"/>
          <p:cNvSpPr/>
          <p:nvPr/>
        </p:nvSpPr>
        <p:spPr>
          <a:xfrm>
            <a:off x="4551578" y="3328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90490" y="3310128"/>
            <a:ext cx="2658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51578" y="374904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everyday conversation on metabolic maintenance.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5605" y="3127248"/>
            <a:ext cx="352745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5061" y="3328416"/>
            <a:ext cx="329184" cy="329184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31" name="Text 29"/>
          <p:cNvSpPr/>
          <p:nvPr/>
        </p:nvSpPr>
        <p:spPr>
          <a:xfrm>
            <a:off x="8335061" y="3328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73973" y="3310128"/>
            <a:ext cx="26587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Claims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35061" y="374904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“Prove more, claim less” — composition, then function, then validated outcomes.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REGULATORY PATHWAY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367528"/>
            <a:ext cx="5396332" cy="868680"/>
          </a:xfrm>
          <a:prstGeom prst="roundRect">
            <a:avLst>
              <a:gd name="adj" fmla="val 9474"/>
            </a:avLst>
          </a:prstGeom>
          <a:solidFill>
            <a:srgbClr val="E7EDE8"/>
          </a:solidFill>
          <a:ln/>
        </p:spPr>
      </p:sp>
      <p:sp>
        <p:nvSpPr>
          <p:cNvPr id="36" name="Shape 34"/>
          <p:cNvSpPr/>
          <p:nvPr/>
        </p:nvSpPr>
        <p:spPr>
          <a:xfrm>
            <a:off x="768096" y="5586984"/>
            <a:ext cx="274320" cy="274320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5586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832"/>
            <a:ext cx="45276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IV — BOTANICALS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8096" y="5824728"/>
            <a:ext cx="495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Berberine HCl standardization and purity testing built into the TriFiber R&amp;D protocol.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46724" y="5367528"/>
            <a:ext cx="5396332" cy="868680"/>
          </a:xfrm>
          <a:prstGeom prst="roundRect">
            <a:avLst>
              <a:gd name="adj" fmla="val 9474"/>
            </a:avLst>
          </a:prstGeom>
          <a:solidFill>
            <a:srgbClr val="E7EDE8"/>
          </a:solidFill>
          <a:ln/>
        </p:spPr>
      </p:sp>
      <p:sp>
        <p:nvSpPr>
          <p:cNvPr id="41" name="Shape 39"/>
          <p:cNvSpPr/>
          <p:nvPr/>
        </p:nvSpPr>
        <p:spPr>
          <a:xfrm>
            <a:off x="6466180" y="5586984"/>
            <a:ext cx="274320" cy="274320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42" name="Text 40"/>
          <p:cNvSpPr/>
          <p:nvPr/>
        </p:nvSpPr>
        <p:spPr>
          <a:xfrm>
            <a:off x="6466180" y="5586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5092" y="5513832"/>
            <a:ext cx="45276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VII — PROBIOTIC STRAINS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66180" y="5824728"/>
            <a:ext cx="4957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testing designed to hold ≥ 10⁶ CFU/g through shelf life — not just at manufacture.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High-Frequency Consumables, Built Market by Market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Direct-to-consumer   ·   Secondary: Marketplaces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retail, pharmacy, practitioners, corporate wellness, international distributors.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E7ED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233172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4A6B53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3317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0" y="233172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49240" y="233172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E7EDE8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331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29900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2194560"/>
            <a:ext cx="2862072" cy="1371600"/>
          </a:xfrm>
          <a:prstGeom prst="roundRect">
            <a:avLst>
              <a:gd name="adj" fmla="val 6000"/>
            </a:avLst>
          </a:prstGeom>
          <a:solidFill>
            <a:srgbClr val="1A242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23317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65–75%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092440" y="287121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 AT SCALE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2440" y="32735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i="1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paid acquisition &amp; fulfillment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541004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416552"/>
            <a:ext cx="365760" cy="365760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4315968"/>
            <a:ext cx="452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UAE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34440" y="4608576"/>
            <a:ext cx="452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product, positioning, repeat purchase &amp; manufacturing economics.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233008" y="4206240"/>
            <a:ext cx="541004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4176" y="4416552"/>
            <a:ext cx="365760" cy="365760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28" name="Text 26"/>
          <p:cNvSpPr/>
          <p:nvPr/>
        </p:nvSpPr>
        <p:spPr>
          <a:xfrm>
            <a:off x="6434176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8808" y="4315968"/>
            <a:ext cx="452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18808" y="4608576"/>
            <a:ext cx="452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D2C supplement ecosystem; structure/function claims only.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541004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422392"/>
            <a:ext cx="365760" cy="365760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422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34440" y="5321808"/>
            <a:ext cx="452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Select Europe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34440" y="5614416"/>
            <a:ext cx="452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leads; Berberine follows pending EFSA botanical review.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233008" y="5212080"/>
            <a:ext cx="541004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242F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34176" y="5422392"/>
            <a:ext cx="365760" cy="365760"/>
          </a:xfrm>
          <a:prstGeom prst="ellipse">
            <a:avLst/>
          </a:prstGeom>
          <a:solidFill>
            <a:srgbClr val="4A6B53"/>
          </a:solidFill>
          <a:ln/>
        </p:spPr>
      </p:sp>
      <p:sp>
        <p:nvSpPr>
          <p:cNvPr id="38" name="Text 36"/>
          <p:cNvSpPr/>
          <p:nvPr/>
        </p:nvSpPr>
        <p:spPr>
          <a:xfrm>
            <a:off x="6434176" y="5422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18808" y="5321808"/>
            <a:ext cx="452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· Singapore · Australia · Canada · SE Asia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18808" y="5614416"/>
            <a:ext cx="452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Market-specific registration &amp; claims review.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E4E1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18134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b="1" i="1" kern="0" spc="8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83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 — India: ₹999–1,299   ·   UAE: AED 89–129   ·   US: $24–39 per product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Months: From Concept to Validated Products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03218" y="2331720"/>
            <a:ext cx="8985260" cy="0"/>
          </a:xfrm>
          <a:prstGeom prst="line">
            <a:avLst/>
          </a:prstGeom>
          <a:noFill/>
          <a:ln w="1905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47088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29482" y="2157984"/>
            <a:ext cx="347472" cy="347472"/>
          </a:xfrm>
          <a:prstGeom prst="ellipse">
            <a:avLst/>
          </a:prstGeom>
          <a:solidFill>
            <a:srgbClr val="4A6B53"/>
          </a:solidFill>
          <a:ln w="38100">
            <a:solidFill>
              <a:srgbClr val="F9F9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9482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21091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3008376"/>
            <a:ext cx="196285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board, regulatory mapping, first prototypes.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2794955" y="1847088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75797" y="2157984"/>
            <a:ext cx="347472" cy="347472"/>
          </a:xfrm>
          <a:prstGeom prst="ellipse">
            <a:avLst/>
          </a:prstGeom>
          <a:solidFill>
            <a:srgbClr val="4A6B53"/>
          </a:solidFill>
          <a:ln w="38100">
            <a:solidFill>
              <a:srgbClr val="F9F9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797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94955" y="2624328"/>
            <a:ext cx="21091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68107" y="3008376"/>
            <a:ext cx="196285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testing, sensory trials, brand + D2C build.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5041270" y="1847088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22112" y="2157984"/>
            <a:ext cx="347472" cy="347472"/>
          </a:xfrm>
          <a:prstGeom prst="ellipse">
            <a:avLst/>
          </a:prstGeom>
          <a:solidFill>
            <a:srgbClr val="4A6B53"/>
          </a:solidFill>
          <a:ln w="38100">
            <a:solidFill>
              <a:srgbClr val="F9F9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2112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1270" y="2624328"/>
            <a:ext cx="21091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14422" y="3008376"/>
            <a:ext cx="196285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formulations, manufacturing validation, clinical pilot begins.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7287585" y="1847088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MO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68427" y="2157984"/>
            <a:ext cx="347472" cy="347472"/>
          </a:xfrm>
          <a:prstGeom prst="ellipse">
            <a:avLst/>
          </a:prstGeom>
          <a:solidFill>
            <a:srgbClr val="4A6B53"/>
          </a:solidFill>
          <a:ln w="38100">
            <a:solidFill>
              <a:srgbClr val="F9F9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8427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87585" y="2624328"/>
            <a:ext cx="21091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737" y="3008376"/>
            <a:ext cx="196285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launch, first paying customers.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9533900" y="1847088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414742" y="2157984"/>
            <a:ext cx="347472" cy="347472"/>
          </a:xfrm>
          <a:prstGeom prst="ellipse">
            <a:avLst/>
          </a:prstGeom>
          <a:solidFill>
            <a:srgbClr val="4A6B53"/>
          </a:solidFill>
          <a:ln w="38100">
            <a:solidFill>
              <a:srgbClr val="F9F9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14742" y="2157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33900" y="2624328"/>
            <a:ext cx="21091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7052" y="3008376"/>
            <a:ext cx="196285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India, prep UAE/US, clinical readout, next raise.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3E7D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10328"/>
            <a:ext cx="2773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47924" y="4910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22244" y="4910328"/>
            <a:ext cx="2773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Validation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21528" y="4910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95848" y="4910328"/>
            <a:ext cx="2773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Pilot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131" y="4910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69451" y="4910328"/>
            <a:ext cx="2773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8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Feasibility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6418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spine running throughout, parallel to the commercial timeline above.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oundRect">
            <a:avLst>
              <a:gd name="adj" fmla="val 1837"/>
            </a:avLst>
          </a:prstGeom>
          <a:solidFill>
            <a:srgbClr val="1A24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17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$750,000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PRE-SEED RAISE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round de-risks: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011326" cy="384048"/>
          </a:xfrm>
          <a:prstGeom prst="roundRect">
            <a:avLst>
              <a:gd name="adj" fmla="val 50000"/>
            </a:avLst>
          </a:prstGeom>
          <a:solidFill>
            <a:srgbClr val="232F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101132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b="1" kern="0" spc="50" dirty="0">
                <a:solidFill>
                  <a:srgbClr val="E3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1706270" y="2697480"/>
            <a:ext cx="1997050" cy="384048"/>
          </a:xfrm>
          <a:prstGeom prst="roundRect">
            <a:avLst>
              <a:gd name="adj" fmla="val 50000"/>
            </a:avLst>
          </a:prstGeom>
          <a:solidFill>
            <a:srgbClr val="232F3B"/>
          </a:solidFill>
          <a:ln/>
        </p:spPr>
      </p:sp>
      <p:sp>
        <p:nvSpPr>
          <p:cNvPr id="10" name="Text 8"/>
          <p:cNvSpPr/>
          <p:nvPr/>
        </p:nvSpPr>
        <p:spPr>
          <a:xfrm>
            <a:off x="1706270" y="2697480"/>
            <a:ext cx="19970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b="1" kern="0" spc="50" dirty="0">
                <a:solidFill>
                  <a:srgbClr val="E3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232F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91256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b="1" kern="0" spc="50" dirty="0">
                <a:solidFill>
                  <a:srgbClr val="E3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Demand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2423160" y="3191256"/>
            <a:ext cx="1190549" cy="384048"/>
          </a:xfrm>
          <a:prstGeom prst="roundRect">
            <a:avLst>
              <a:gd name="adj" fmla="val 50000"/>
            </a:avLst>
          </a:prstGeom>
          <a:solidFill>
            <a:srgbClr val="232F3B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3191256"/>
            <a:ext cx="11905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b="1" kern="0" spc="50" dirty="0">
                <a:solidFill>
                  <a:srgbClr val="E3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1638605" cy="384048"/>
          </a:xfrm>
          <a:prstGeom prst="roundRect">
            <a:avLst>
              <a:gd name="adj" fmla="val 50000"/>
            </a:avLst>
          </a:prstGeom>
          <a:solidFill>
            <a:srgbClr val="232F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85032"/>
            <a:ext cx="163860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b="1" kern="0" spc="50" dirty="0">
                <a:solidFill>
                  <a:srgbClr val="E3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383280" cy="0"/>
          </a:xfrm>
          <a:prstGeom prst="line">
            <a:avLst/>
          </a:prstGeom>
          <a:noFill/>
          <a:ln w="12700">
            <a:solidFill>
              <a:srgbClr val="3A46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9028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round covers formulation, regulatory pathway, initial manufacturing, brand build and a consumer + clinical validation pilot.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size to be adjusted after CRO, manufacturer &amp; regulatory quotations.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93776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A6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983480" y="777240"/>
          <a:ext cx="2880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983480" y="19659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83480" y="2194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138160" y="8046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4A6B53"/>
          </a:solidFill>
          <a:ln/>
        </p:spPr>
      </p:sp>
      <p:sp>
        <p:nvSpPr>
          <p:cNvPr id="25" name="Text 22"/>
          <p:cNvSpPr/>
          <p:nvPr/>
        </p:nvSpPr>
        <p:spPr>
          <a:xfrm>
            <a:off x="8394192" y="731520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—  Formulation + R&amp;D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394192" y="106984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Prototypes, ingredient development, stability, flavor systems.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8138160" y="17922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4A373"/>
          </a:solidFill>
          <a:ln/>
        </p:spPr>
      </p:sp>
      <p:sp>
        <p:nvSpPr>
          <p:cNvPr id="28" name="Text 25"/>
          <p:cNvSpPr/>
          <p:nvPr/>
        </p:nvSpPr>
        <p:spPr>
          <a:xfrm>
            <a:off x="8394192" y="1719072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—  Clinical + Consumer Validation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394192" y="205740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Ethics/CRO, pilots, biomarker testing, consumer studies.</a:t>
            </a:r>
            <a:endParaRPr lang="en-US" sz="870" dirty="0"/>
          </a:p>
        </p:txBody>
      </p:sp>
      <p:sp>
        <p:nvSpPr>
          <p:cNvPr id="30" name="Shape 27"/>
          <p:cNvSpPr/>
          <p:nvPr/>
        </p:nvSpPr>
        <p:spPr>
          <a:xfrm>
            <a:off x="8138160" y="27797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A242F"/>
          </a:solidFill>
          <a:ln/>
        </p:spPr>
      </p:sp>
      <p:sp>
        <p:nvSpPr>
          <p:cNvPr id="31" name="Text 28"/>
          <p:cNvSpPr/>
          <p:nvPr/>
        </p:nvSpPr>
        <p:spPr>
          <a:xfrm>
            <a:off x="8394192" y="2706624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—  Regulatory + Quality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94192" y="3044952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FSSAI, UAE, U.S. preparation, testing, documentation.</a:t>
            </a:r>
            <a:endParaRPr lang="en-US" sz="870" dirty="0"/>
          </a:p>
        </p:txBody>
      </p:sp>
      <p:sp>
        <p:nvSpPr>
          <p:cNvPr id="33" name="Shape 30"/>
          <p:cNvSpPr/>
          <p:nvPr/>
        </p:nvSpPr>
        <p:spPr>
          <a:xfrm>
            <a:off x="4937760" y="4005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C9A86"/>
          </a:solidFill>
          <a:ln/>
        </p:spPr>
      </p:sp>
      <p:sp>
        <p:nvSpPr>
          <p:cNvPr id="34" name="Text 31"/>
          <p:cNvSpPr/>
          <p:nvPr/>
        </p:nvSpPr>
        <p:spPr>
          <a:xfrm>
            <a:off x="5193792" y="39319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—  Initial Manufacturing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93792" y="42519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batches, packaging, QA, inventory.</a:t>
            </a:r>
            <a:endParaRPr lang="en-US" sz="870" dirty="0"/>
          </a:p>
        </p:txBody>
      </p:sp>
      <p:sp>
        <p:nvSpPr>
          <p:cNvPr id="36" name="Shape 33"/>
          <p:cNvSpPr/>
          <p:nvPr/>
        </p:nvSpPr>
        <p:spPr>
          <a:xfrm>
            <a:off x="4937760" y="4828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9834F"/>
          </a:solidFill>
          <a:ln/>
        </p:spPr>
      </p:sp>
      <p:sp>
        <p:nvSpPr>
          <p:cNvPr id="37" name="Text 34"/>
          <p:cNvSpPr/>
          <p:nvPr/>
        </p:nvSpPr>
        <p:spPr>
          <a:xfrm>
            <a:off x="5193792" y="47548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—  Brand + Commerce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193792" y="5074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website, packaging, launch infrastructure.</a:t>
            </a:r>
            <a:endParaRPr lang="en-US" sz="870" dirty="0"/>
          </a:p>
        </p:txBody>
      </p:sp>
      <p:sp>
        <p:nvSpPr>
          <p:cNvPr id="39" name="Shape 36"/>
          <p:cNvSpPr/>
          <p:nvPr/>
        </p:nvSpPr>
        <p:spPr>
          <a:xfrm>
            <a:off x="4937760" y="56509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B6672"/>
          </a:solidFill>
          <a:ln/>
        </p:spPr>
      </p:sp>
      <p:sp>
        <p:nvSpPr>
          <p:cNvPr id="40" name="Text 37"/>
          <p:cNvSpPr/>
          <p:nvPr/>
        </p:nvSpPr>
        <p:spPr>
          <a:xfrm>
            <a:off x="5193792" y="55778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—  Team + Operations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193792" y="58978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Scientific, product, regulatory, operating costs.</a:t>
            </a:r>
            <a:endParaRPr lang="en-US" sz="870" dirty="0"/>
          </a:p>
        </p:txBody>
      </p:sp>
      <p:sp>
        <p:nvSpPr>
          <p:cNvPr id="42" name="Text 39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-2926080"/>
            <a:ext cx="8686800" cy="8686800"/>
          </a:xfrm>
          <a:prstGeom prst="ellipse">
            <a:avLst/>
          </a:prstGeom>
          <a:solidFill>
            <a:srgbClr val="4A6B53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2377440"/>
            <a:ext cx="6858000" cy="6858000"/>
          </a:xfrm>
          <a:prstGeom prst="ellipse">
            <a:avLst/>
          </a:prstGeom>
          <a:solidFill>
            <a:srgbClr val="D4A37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77724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963137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Metabolic Health Won’t Be Medication Alone.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2697480"/>
            <a:ext cx="8716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food. Better habits. Better preventive nutrition. Better evidence.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Daily</a:t>
            </a:r>
            <a:r>
              <a:rPr lang="en-US" sz="1200" dirty="0">
                <a:solidFill>
                  <a:srgbClr val="D6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Close the fiber gap.    </a:t>
            </a:r>
            <a:r>
              <a:rPr lang="en-US" sz="1200" b="1" dirty="0">
                <a:solidFill>
                  <a:srgbClr val="7C9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Berberine Metabolic Balance</a:t>
            </a:r>
            <a:r>
              <a:rPr lang="en-US" sz="1200" dirty="0">
                <a:solidFill>
                  <a:srgbClr val="D6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Support everyday metabolic health.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CATEGORY   ·   CULTURAL TIMING   ·   HIGH-FREQUENCY HABIT   ·   INDIA ADVANTAGE   ·   GLOBAL POTENTIAL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47208" y="4526280"/>
            <a:ext cx="1097280" cy="0"/>
          </a:xfrm>
          <a:prstGeom prst="line">
            <a:avLst/>
          </a:prstGeom>
          <a:noFill/>
          <a:ln w="19050">
            <a:solidFill>
              <a:srgbClr val="D4A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75488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4A3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“Better Gut. Better Metabolism. Every Day.”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5532120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India. Designed for the World.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TRIFIBER HEALTH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45775" y="6510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Widescreen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Saurav Dodiya</cp:lastModifiedBy>
  <cp:revision>1</cp:revision>
  <dcterms:created xsi:type="dcterms:W3CDTF">2026-08-11T05:26:05Z</dcterms:created>
  <dcterms:modified xsi:type="dcterms:W3CDTF">2026-08-11T10:47:56Z</dcterms:modified>
</cp:coreProperties>
</file>